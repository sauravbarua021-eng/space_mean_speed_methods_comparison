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2307-C0E8-21F3-24E7-171DE9F64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7D968-646D-DE13-4DA4-BDCB969DB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62E1A-2BA1-69ED-5A35-63158958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E46C-23BD-47E6-AA4B-1C1069D2EF7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19AB0-1F82-1171-D934-22F1ED815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2E719-4831-14E3-5B82-D865FA6CD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57A68-6EE8-406C-ADB8-44A63C1F3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74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E91B9-C38D-37F5-D4DF-BC5A3EE1D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9081C-C8AB-C614-D5C8-D9E01EA51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9ABDE-81CD-5AFC-637B-BB155CABA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E46C-23BD-47E6-AA4B-1C1069D2EF7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78C32-5FBD-2707-27A4-0C5905BE4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6B0B8-0A0F-5EA5-7A33-97A3866E7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57A68-6EE8-406C-ADB8-44A63C1F3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965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CF2D-7F08-27F0-7C94-3696FB84F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BF1F0-3103-9206-EC62-A592262F8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F6ABD-E14D-6A5F-8E70-5ED4D5E18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E46C-23BD-47E6-AA4B-1C1069D2EF7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47798-7256-3579-52D0-531D5A025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19003-9447-38FA-2A61-C08EF1D39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57A68-6EE8-406C-ADB8-44A63C1F3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29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FA5C5-7652-DE1E-D5F1-8336F2238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8291E-FC28-373F-4EA1-6360F7C26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DE7B1-BCFF-C7B5-F578-2623E2FAD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A9926-125E-3C26-EC0A-0AB0CC08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E46C-23BD-47E6-AA4B-1C1069D2EF7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B0648-EC97-B456-3FFF-BE44693B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AFDB9-0DB1-3EFD-0ECD-205BF197D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57A68-6EE8-406C-ADB8-44A63C1F3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42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6A149-8C28-E714-2DCF-EEBB09FE1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7D228-0DFD-640F-B894-04DA8B696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9039B-386F-BEB3-5A03-227371697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11D386-55ED-AF8D-AAD9-751D25F265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09607-C951-8993-34FC-D253E6177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6791C1-B870-8BCE-0B4B-316044C25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E46C-23BD-47E6-AA4B-1C1069D2EF7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7C6D98-BD41-A83C-AD4A-6584A0C0F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758EB-0306-DF7D-630D-6FDD65537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57A68-6EE8-406C-ADB8-44A63C1F3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49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794C6-10BD-1476-1F94-41EA0AA8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0D3BEF-C318-5958-793D-D5EB541B7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E46C-23BD-47E6-AA4B-1C1069D2EF7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74E2D9-4DEC-3F76-D20C-28F0EB94E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BE241-830C-F3DA-5A4F-D19DAC0A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57A68-6EE8-406C-ADB8-44A63C1F3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19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93F7A-FA1A-6D9D-EFF3-B5ABEEBF8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E46C-23BD-47E6-AA4B-1C1069D2EF7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EB91E4-F9C6-4F35-555F-F37D7D0C1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ABCA4-8D6A-17FF-6BB2-9B0C4906B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57A68-6EE8-406C-ADB8-44A63C1F3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92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DF5CA-A225-3241-8FFB-DE6548F05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6E0B0-33DD-33DB-E510-EC3D63517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A9865-2DAC-4321-7353-67AAF2476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2ED4A-1299-C64B-EBD6-4450BCF5F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E46C-23BD-47E6-AA4B-1C1069D2EF7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4874F-A18F-0CC8-CFFF-95A4C611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7EEB2-6BAC-BF1C-4E1F-DC37AE71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57A68-6EE8-406C-ADB8-44A63C1F3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6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8A3C-288C-D368-F661-77121276E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527C78-97EE-A934-04E9-A0DA635E2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4DAA0-DFA0-A134-CF5C-CD9F65520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51D5E-FFB3-E83A-8B5B-2ED53A10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E46C-23BD-47E6-AA4B-1C1069D2EF7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94EBE-0203-148A-C991-B0A58CB4E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22331-95F6-C12A-8DFA-A48368C94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57A68-6EE8-406C-ADB8-44A63C1F3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42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29E07-2B65-499C-A1B8-900E407EE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5C8A2A-3AC3-93E4-C641-9F4DD3AEA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C96BC-A7CF-A215-2D83-784E14D8D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E46C-23BD-47E6-AA4B-1C1069D2EF7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822D7-32D7-4691-9201-36BE9C61B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55BF2-B934-885C-B437-C234E304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57A68-6EE8-406C-ADB8-44A63C1F3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32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01B21B-E0C0-B24B-35E6-1E58667FE2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46D501-A772-7AD9-D021-E6BC93E96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730B0-3AB3-FFAF-7ABD-7454AC332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E46C-23BD-47E6-AA4B-1C1069D2EF7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C1974-1B2B-917B-71B5-B740F6C70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76F40-37BA-CBBB-C98C-46A5F61E1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57A68-6EE8-406C-ADB8-44A63C1F3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93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4E3CD-3FD1-AF64-7BD9-1B96292E3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75FC6-242C-8EE1-E565-56A7C6ED6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E016C-3C22-A262-7288-685196108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9E46C-23BD-47E6-AA4B-1C1069D2EF7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BB27B-29EE-CDF8-9EF1-21E7F4EEC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609C4-0EF0-E9C9-AA70-E451184AA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57A68-6EE8-406C-ADB8-44A63C1F3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01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45DDD-F813-7ABC-8228-0712CFDEBA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Evaluation of Space Mean Speed Estimation Methods Using Trajectory Data and Edie’s Definition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0D467-E9E4-0924-708F-DD22159DCE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by: Saurav Barua</a:t>
            </a:r>
          </a:p>
        </p:txBody>
      </p:sp>
    </p:spTree>
    <p:extLst>
      <p:ext uri="{BB962C8B-B14F-4D97-AF65-F5344CB8AC3E}">
        <p14:creationId xmlns:p14="http://schemas.microsoft.com/office/powerpoint/2010/main" val="1735044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EC84C-70D8-ABCD-610B-4F34FF82A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081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03191-2911-AF61-7F1B-847D908E7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68" y="1412670"/>
            <a:ext cx="1075403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Location: Henri-Dunant Intersection</a:t>
            </a:r>
          </a:p>
          <a:p>
            <a:pPr marL="0" indent="0">
              <a:buNone/>
            </a:pPr>
            <a:r>
              <a:rPr lang="en-US" dirty="0"/>
              <a:t>Methods:</a:t>
            </a:r>
          </a:p>
          <a:p>
            <a:pPr marL="0" indent="0">
              <a:buNone/>
            </a:pPr>
            <a:r>
              <a:rPr lang="en-US" dirty="0"/>
              <a:t>Method 1: Entry-Exit travel time-based Space Mean Speed</a:t>
            </a:r>
          </a:p>
          <a:p>
            <a:pPr marL="0" indent="0">
              <a:buNone/>
            </a:pPr>
            <a:r>
              <a:rPr lang="en-US" dirty="0"/>
              <a:t>Method 2: Instantaneous speed-based Space Mean Speed</a:t>
            </a:r>
          </a:p>
          <a:p>
            <a:pPr marL="0" indent="0">
              <a:buNone/>
            </a:pPr>
            <a:r>
              <a:rPr lang="en-US" dirty="0"/>
              <a:t>Method 3: Trajectory based aggregation of Edie's Space Mean Speed</a:t>
            </a:r>
          </a:p>
        </p:txBody>
      </p:sp>
    </p:spTree>
    <p:extLst>
      <p:ext uri="{BB962C8B-B14F-4D97-AF65-F5344CB8AC3E}">
        <p14:creationId xmlns:p14="http://schemas.microsoft.com/office/powerpoint/2010/main" val="156483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C89F4-B9CC-B178-6C6D-C000875FA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4A251-8230-95CD-F71E-3E5D17D5B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219" y="117987"/>
            <a:ext cx="7059561" cy="1006475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Screen shot from video showing entry and exit gate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28F98D-0D4B-F356-CA51-EA4336836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775" y="1253613"/>
            <a:ext cx="355645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64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5146-0FAA-F207-45B4-F0723865B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870A3-497A-80AF-101E-F1A98D32F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219" y="117987"/>
            <a:ext cx="7059561" cy="1006475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Method 1: Entry-Exit travel time-based Space Mean Speed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59957D-57BB-B6C1-84DC-B40E8206B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5" y="1710812"/>
            <a:ext cx="6161866" cy="38692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59E8F3-18D1-731D-FCD0-F3F3CE7A297C}"/>
              </a:ext>
            </a:extLst>
          </p:cNvPr>
          <p:cNvSpPr txBox="1"/>
          <p:nvPr/>
        </p:nvSpPr>
        <p:spPr>
          <a:xfrm>
            <a:off x="6217681" y="1035972"/>
            <a:ext cx="5875996" cy="590931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Pseudo Code:</a:t>
            </a:r>
          </a:p>
          <a:p>
            <a:r>
              <a:rPr lang="en-US" dirty="0"/>
              <a:t>INPUT: vehicle-level dataset (Entry Time, Exit Time, Distance)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STEP 1: Remove duplicate rows → keep one row per vehicle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STEP 2: For each vehicle i:</a:t>
            </a:r>
            <a:br>
              <a:rPr lang="en-US" dirty="0"/>
            </a:br>
            <a:r>
              <a:rPr lang="en-US" dirty="0" err="1"/>
              <a:t>travel_time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</a:t>
            </a:r>
            <a:r>
              <a:rPr lang="en-US" dirty="0" err="1"/>
              <a:t>Exit_Time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- </a:t>
            </a:r>
            <a:r>
              <a:rPr lang="en-US" dirty="0" err="1"/>
              <a:t>Entry_Time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STEP 3: Remove vehicles where:</a:t>
            </a:r>
            <a:br>
              <a:rPr lang="en-US" dirty="0"/>
            </a:br>
            <a:r>
              <a:rPr lang="en-US" dirty="0" err="1"/>
              <a:t>travel_time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&lt;= 0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STEP 4: Compute speed per vehicle:</a:t>
            </a:r>
            <a:br>
              <a:rPr lang="en-US" dirty="0"/>
            </a:br>
            <a:r>
              <a:rPr lang="en-US" dirty="0"/>
              <a:t>speed[</a:t>
            </a:r>
            <a:r>
              <a:rPr lang="en-US" dirty="0" err="1"/>
              <a:t>i</a:t>
            </a:r>
            <a:r>
              <a:rPr lang="en-US" dirty="0"/>
              <a:t>] = distance[</a:t>
            </a:r>
            <a:r>
              <a:rPr lang="en-US" dirty="0" err="1"/>
              <a:t>i</a:t>
            </a:r>
            <a:r>
              <a:rPr lang="en-US" dirty="0"/>
              <a:t>] / </a:t>
            </a:r>
            <a:r>
              <a:rPr lang="en-US" dirty="0" err="1"/>
              <a:t>travel_time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STEP 5: Convert speed to km/h if needed:</a:t>
            </a:r>
            <a:br>
              <a:rPr lang="en-US" dirty="0"/>
            </a:br>
            <a:r>
              <a:rPr lang="en-US" dirty="0"/>
              <a:t>speed[</a:t>
            </a:r>
            <a:r>
              <a:rPr lang="en-US" dirty="0" err="1"/>
              <a:t>i</a:t>
            </a:r>
            <a:r>
              <a:rPr lang="en-US" dirty="0"/>
              <a:t>] = speed[</a:t>
            </a:r>
            <a:r>
              <a:rPr lang="en-US" dirty="0" err="1"/>
              <a:t>i</a:t>
            </a:r>
            <a:r>
              <a:rPr lang="en-US" dirty="0"/>
              <a:t>] * 3.6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STEP 6: Compute Space Mean Speed (harmonic mean):</a:t>
            </a:r>
            <a:br>
              <a:rPr lang="en-US" dirty="0"/>
            </a:br>
            <a:r>
              <a:rPr lang="en-US" dirty="0"/>
              <a:t>SMS = N / SUM(1 / speed[</a:t>
            </a:r>
            <a:r>
              <a:rPr lang="en-US" dirty="0" err="1"/>
              <a:t>i</a:t>
            </a:r>
            <a:r>
              <a:rPr lang="en-US" dirty="0"/>
              <a:t>])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OUTPUT: SMS</a:t>
            </a:r>
          </a:p>
        </p:txBody>
      </p:sp>
    </p:spTree>
    <p:extLst>
      <p:ext uri="{BB962C8B-B14F-4D97-AF65-F5344CB8AC3E}">
        <p14:creationId xmlns:p14="http://schemas.microsoft.com/office/powerpoint/2010/main" val="2789125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5462C-E3E1-B53E-4D9B-ECBE14B9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7D6B4-F11F-E310-3508-0D6F04A5D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632" y="117987"/>
            <a:ext cx="7059561" cy="1006475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Method 2: Instantaneous speed-based Space Mean Speed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CC0896-7E83-2644-90D7-3CDD860FDF38}"/>
              </a:ext>
            </a:extLst>
          </p:cNvPr>
          <p:cNvSpPr txBox="1"/>
          <p:nvPr/>
        </p:nvSpPr>
        <p:spPr>
          <a:xfrm>
            <a:off x="6096000" y="1124462"/>
            <a:ext cx="5997677" cy="5747727"/>
          </a:xfrm>
          <a:prstGeom prst="rect">
            <a:avLst/>
          </a:prstGeom>
          <a:noFill/>
        </p:spPr>
        <p:txBody>
          <a:bodyPr wrap="square" numCol="2" spcCol="457200">
            <a:spAutoFit/>
          </a:bodyPr>
          <a:lstStyle/>
          <a:p>
            <a:r>
              <a:rPr lang="en-US" sz="1600" b="1" u="sng" dirty="0">
                <a:solidFill>
                  <a:srgbClr val="FF0000"/>
                </a:solidFill>
              </a:rPr>
              <a:t>Pseudo Code</a:t>
            </a:r>
          </a:p>
          <a:p>
            <a:r>
              <a:rPr lang="en-US" sz="1600" dirty="0"/>
              <a:t>INPUT: trajectory dataset (Track ID, Time, Speed)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STEP 1: Sort data by:</a:t>
            </a:r>
            <a:br>
              <a:rPr lang="en-US" sz="1600" dirty="0"/>
            </a:br>
            <a:r>
              <a:rPr lang="en-US" sz="1600" dirty="0"/>
              <a:t>Track ID, Time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STEP 2: For each vehicle:</a:t>
            </a:r>
            <a:br>
              <a:rPr lang="en-US" sz="1600" dirty="0"/>
            </a:br>
            <a:r>
              <a:rPr lang="en-US" sz="1600" dirty="0"/>
              <a:t>Compute time difference:</a:t>
            </a:r>
            <a:br>
              <a:rPr lang="en-US" sz="1600" dirty="0"/>
            </a:br>
            <a:r>
              <a:rPr lang="en-US" sz="1600" dirty="0"/>
              <a:t>dt = </a:t>
            </a:r>
            <a:r>
              <a:rPr lang="en-US" sz="1600" dirty="0" err="1"/>
              <a:t>current_time</a:t>
            </a:r>
            <a:r>
              <a:rPr lang="en-US" sz="1600" dirty="0"/>
              <a:t> - </a:t>
            </a:r>
            <a:r>
              <a:rPr lang="en-US" sz="1600" dirty="0" err="1"/>
              <a:t>previous_time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STEP 3: Remove rows where:</a:t>
            </a:r>
            <a:br>
              <a:rPr lang="en-US" sz="1600" dirty="0"/>
            </a:br>
            <a:r>
              <a:rPr lang="en-US" sz="1600" dirty="0"/>
              <a:t>dt is NULL or dt &lt;= 0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STEP 4: Convert speed:</a:t>
            </a:r>
            <a:br>
              <a:rPr lang="en-US" sz="1600" dirty="0"/>
            </a:br>
            <a:r>
              <a:rPr lang="en-US" sz="1600" dirty="0" err="1"/>
              <a:t>speed_mps</a:t>
            </a:r>
            <a:r>
              <a:rPr lang="en-US" sz="1600" dirty="0"/>
              <a:t> = </a:t>
            </a:r>
            <a:r>
              <a:rPr lang="en-US" sz="1600" dirty="0" err="1"/>
              <a:t>speed_kmh</a:t>
            </a:r>
            <a:r>
              <a:rPr lang="en-US" sz="1600" dirty="0"/>
              <a:t> / 3.6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STEP 5: Compute step distance:</a:t>
            </a:r>
            <a:br>
              <a:rPr lang="en-US" sz="1600" dirty="0"/>
            </a:br>
            <a:r>
              <a:rPr lang="en-US" sz="1600" dirty="0" err="1"/>
              <a:t>step_distance</a:t>
            </a:r>
            <a:r>
              <a:rPr lang="en-US" sz="1600" dirty="0"/>
              <a:t> = </a:t>
            </a:r>
            <a:r>
              <a:rPr lang="en-US" sz="1600" dirty="0" err="1"/>
              <a:t>speed_mps</a:t>
            </a:r>
            <a:r>
              <a:rPr lang="en-US" sz="1600" dirty="0"/>
              <a:t> * dt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STEP 6: Aggregate per vehicle:</a:t>
            </a:r>
            <a:br>
              <a:rPr lang="en-US" sz="1600" dirty="0"/>
            </a:br>
            <a:r>
              <a:rPr lang="en-US" sz="1600" dirty="0" err="1"/>
              <a:t>total_distance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 = SUM(</a:t>
            </a:r>
            <a:r>
              <a:rPr lang="en-US" sz="1600" dirty="0" err="1"/>
              <a:t>step_distance</a:t>
            </a:r>
            <a:r>
              <a:rPr lang="en-US" sz="1600" dirty="0"/>
              <a:t>)</a:t>
            </a:r>
            <a:br>
              <a:rPr lang="en-US" sz="1600" dirty="0"/>
            </a:br>
            <a:r>
              <a:rPr lang="en-US" sz="1600" dirty="0" err="1"/>
              <a:t>total_time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 = SUM(dt)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STEP 7: Compute per vehicle speed:</a:t>
            </a:r>
            <a:br>
              <a:rPr lang="en-US" sz="1600" dirty="0"/>
            </a:br>
            <a:r>
              <a:rPr lang="en-US" sz="1600" dirty="0"/>
              <a:t>speed[</a:t>
            </a:r>
            <a:r>
              <a:rPr lang="en-US" sz="1600" dirty="0" err="1"/>
              <a:t>i</a:t>
            </a:r>
            <a:r>
              <a:rPr lang="en-US" sz="1600" dirty="0"/>
              <a:t>] = </a:t>
            </a:r>
            <a:r>
              <a:rPr lang="en-US" sz="1600" dirty="0" err="1"/>
              <a:t>total_distance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 / </a:t>
            </a:r>
            <a:r>
              <a:rPr lang="en-US" sz="1600" dirty="0" err="1"/>
              <a:t>total_time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STEP 8: Compute overall SMS:</a:t>
            </a:r>
            <a:br>
              <a:rPr lang="en-US" sz="1600" dirty="0"/>
            </a:br>
            <a:r>
              <a:rPr lang="en-US" sz="1600" dirty="0" err="1"/>
              <a:t>total_distance_all</a:t>
            </a:r>
            <a:r>
              <a:rPr lang="en-US" sz="1600" dirty="0"/>
              <a:t> = SUM(</a:t>
            </a:r>
            <a:r>
              <a:rPr lang="en-US" sz="1600" dirty="0" err="1"/>
              <a:t>total_distance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</a:t>
            </a:r>
            <a:br>
              <a:rPr lang="en-US" sz="1600" dirty="0"/>
            </a:br>
            <a:r>
              <a:rPr lang="en-US" sz="1600" dirty="0" err="1"/>
              <a:t>total_time_all</a:t>
            </a:r>
            <a:r>
              <a:rPr lang="en-US" sz="1600" dirty="0"/>
              <a:t> = SUM(</a:t>
            </a:r>
            <a:r>
              <a:rPr lang="en-US" sz="1600" dirty="0" err="1"/>
              <a:t>total_time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SMS = </a:t>
            </a:r>
            <a:r>
              <a:rPr lang="en-US" sz="1600" dirty="0" err="1"/>
              <a:t>total_distance_all</a:t>
            </a:r>
            <a:r>
              <a:rPr lang="en-US" sz="1600" dirty="0"/>
              <a:t> / </a:t>
            </a:r>
            <a:r>
              <a:rPr lang="en-US" sz="1600" dirty="0" err="1"/>
              <a:t>total_time_all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STEP 9: Convert to km/h:</a:t>
            </a:r>
            <a:br>
              <a:rPr lang="en-US" sz="1600" dirty="0"/>
            </a:br>
            <a:r>
              <a:rPr lang="en-US" sz="1600" dirty="0"/>
              <a:t>SMS = SMS * 3.6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OUTPUT: SMS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A45A93-E98D-EEA3-36B7-1D73FE530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40" y="1350604"/>
            <a:ext cx="545668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96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01250-6F03-E13E-E454-3B8FD89B3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5A33-ABB0-18DA-8E72-5E44A892A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219" y="117987"/>
            <a:ext cx="7059561" cy="1006475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Method 3: Trajectory based aggregation of Edie's Space Mean Speed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442E06-E4B7-DF0C-802A-A45DFD8BB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39" y="1416951"/>
            <a:ext cx="5433060" cy="47320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D0E130-427F-EA79-F852-ADE7B385C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796" y="1681069"/>
            <a:ext cx="5380146" cy="284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163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18C5F-B08E-6300-5FF6-1BDB1728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ABBAD-C41E-C583-46DD-34B0DB7C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219" y="0"/>
            <a:ext cx="7059561" cy="1006475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Method 3: Trajectory based aggregation of Edie's Space Mean Speed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C84DE-E856-A450-E790-C26110099595}"/>
              </a:ext>
            </a:extLst>
          </p:cNvPr>
          <p:cNvSpPr txBox="1"/>
          <p:nvPr/>
        </p:nvSpPr>
        <p:spPr>
          <a:xfrm>
            <a:off x="98324" y="1006475"/>
            <a:ext cx="11857704" cy="5851525"/>
          </a:xfrm>
          <a:prstGeom prst="rect">
            <a:avLst/>
          </a:prstGeom>
          <a:noFill/>
        </p:spPr>
        <p:txBody>
          <a:bodyPr wrap="square" numCol="3" spcCol="457200">
            <a:spAutoFit/>
          </a:bodyPr>
          <a:lstStyle/>
          <a:p>
            <a:r>
              <a:rPr lang="en-US" sz="1600" b="1" u="sng" dirty="0">
                <a:solidFill>
                  <a:srgbClr val="FF0000"/>
                </a:solidFill>
              </a:rPr>
              <a:t>Pseudo Code:</a:t>
            </a:r>
          </a:p>
          <a:p>
            <a:r>
              <a:rPr lang="en-US" sz="1600" dirty="0"/>
              <a:t>INPUT:</a:t>
            </a:r>
          </a:p>
          <a:p>
            <a:r>
              <a:rPr lang="en-US" sz="1600" dirty="0"/>
              <a:t>    trajectory dataset with: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Track_ID</a:t>
            </a:r>
            <a:r>
              <a:rPr lang="en-US" sz="1600" dirty="0"/>
              <a:t>, Time, </a:t>
            </a:r>
            <a:r>
              <a:rPr lang="en-US" sz="1600" dirty="0" err="1"/>
              <a:t>step_distance</a:t>
            </a:r>
            <a:endParaRPr lang="en-US" sz="1600" dirty="0"/>
          </a:p>
          <a:p>
            <a:r>
              <a:rPr lang="en-US" sz="1600" dirty="0"/>
              <a:t>    intervals = [1, 2, 5, 10, ...]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road_length</a:t>
            </a:r>
            <a:r>
              <a:rPr lang="en-US" sz="1600" dirty="0"/>
              <a:t> = max(</a:t>
            </a:r>
            <a:r>
              <a:rPr lang="en-US" sz="1600" dirty="0" err="1"/>
              <a:t>cumulative_distance</a:t>
            </a:r>
            <a:r>
              <a:rPr lang="en-US" sz="1600" dirty="0"/>
              <a:t>) - min(</a:t>
            </a:r>
            <a:r>
              <a:rPr lang="en-US" sz="1600" dirty="0" err="1"/>
              <a:t>cumulative_distance</a:t>
            </a:r>
            <a:r>
              <a:rPr lang="en-US" sz="1600" dirty="0"/>
              <a:t>)</a:t>
            </a:r>
          </a:p>
          <a:p>
            <a:endParaRPr lang="en-US" sz="1600" dirty="0"/>
          </a:p>
          <a:p>
            <a:r>
              <a:rPr lang="en-US" sz="1600" dirty="0"/>
              <a:t>FOR each interval T in intervals:</a:t>
            </a:r>
          </a:p>
          <a:p>
            <a:endParaRPr lang="en-US" sz="1600" dirty="0"/>
          </a:p>
          <a:p>
            <a:r>
              <a:rPr lang="en-US" sz="1600" dirty="0"/>
              <a:t>    STEP 1: Create time bins</a:t>
            </a:r>
          </a:p>
          <a:p>
            <a:r>
              <a:rPr lang="en-US" sz="1600" dirty="0"/>
              <a:t>        For each row: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time_bin</a:t>
            </a:r>
            <a:r>
              <a:rPr lang="en-US" sz="1600" dirty="0"/>
              <a:t> = floor(Time / T) * T</a:t>
            </a:r>
          </a:p>
          <a:p>
            <a:endParaRPr lang="en-US" sz="1600" dirty="0"/>
          </a:p>
          <a:p>
            <a:r>
              <a:rPr lang="en-US" sz="1600" dirty="0"/>
              <a:t>    STEP 2: Initialize storage per </a:t>
            </a:r>
            <a:r>
              <a:rPr lang="en-US" sz="1600" dirty="0" err="1"/>
              <a:t>time_bin</a:t>
            </a:r>
            <a:endParaRPr lang="en-US" sz="1600" dirty="0"/>
          </a:p>
          <a:p>
            <a:r>
              <a:rPr lang="en-US" sz="1600" dirty="0"/>
              <a:t>        For each </a:t>
            </a:r>
            <a:r>
              <a:rPr lang="en-US" sz="1600" dirty="0" err="1"/>
              <a:t>time_bin</a:t>
            </a:r>
            <a:r>
              <a:rPr lang="en-US" sz="1600" dirty="0"/>
              <a:t>: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total_distance</a:t>
            </a:r>
            <a:r>
              <a:rPr lang="en-US" sz="1600" dirty="0"/>
              <a:t> = 0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total_time</a:t>
            </a:r>
            <a:r>
              <a:rPr lang="en-US" sz="1600" dirty="0"/>
              <a:t> = 0</a:t>
            </a:r>
          </a:p>
          <a:p>
            <a:endParaRPr lang="en-US" sz="1600" dirty="0"/>
          </a:p>
          <a:p>
            <a:r>
              <a:rPr lang="en-US" sz="1600" dirty="0"/>
              <a:t>    STEP 3: Aggregate trajectory contributions</a:t>
            </a:r>
          </a:p>
          <a:p>
            <a:r>
              <a:rPr lang="en-US" sz="1600" dirty="0"/>
              <a:t>        FOR each observation (row):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total_distance</a:t>
            </a:r>
            <a:r>
              <a:rPr lang="en-US" sz="1600" dirty="0"/>
              <a:t> += </a:t>
            </a:r>
            <a:r>
              <a:rPr lang="en-US" sz="1600" dirty="0" err="1"/>
              <a:t>step_distance</a:t>
            </a:r>
            <a:endParaRPr lang="en-US" sz="1600" dirty="0"/>
          </a:p>
          <a:p>
            <a:r>
              <a:rPr lang="en-US" sz="1600" dirty="0"/>
              <a:t>            </a:t>
            </a:r>
            <a:r>
              <a:rPr lang="en-US" sz="1600" dirty="0" err="1"/>
              <a:t>total_time</a:t>
            </a:r>
            <a:r>
              <a:rPr lang="en-US" sz="1600" dirty="0"/>
              <a:t> += </a:t>
            </a:r>
            <a:r>
              <a:rPr lang="el-GR" sz="1600" dirty="0"/>
              <a:t>Δ</a:t>
            </a:r>
            <a:r>
              <a:rPr lang="en-US" sz="1600" dirty="0"/>
              <a:t>t</a:t>
            </a:r>
          </a:p>
          <a:p>
            <a:endParaRPr lang="en-US" sz="1600" dirty="0"/>
          </a:p>
          <a:p>
            <a:r>
              <a:rPr lang="en-US" sz="1600" dirty="0"/>
              <a:t>            NOTE:</a:t>
            </a:r>
          </a:p>
          <a:p>
            <a:r>
              <a:rPr lang="en-US" sz="1600" dirty="0"/>
              <a:t>                </a:t>
            </a:r>
            <a:r>
              <a:rPr lang="el-GR" sz="1600" dirty="0"/>
              <a:t>Δ</a:t>
            </a:r>
            <a:r>
              <a:rPr lang="en-US" sz="1600" dirty="0"/>
              <a:t>t = 1 second (since data is 1 Hz)</a:t>
            </a:r>
          </a:p>
          <a:p>
            <a:endParaRPr lang="en-US" sz="1600" dirty="0"/>
          </a:p>
          <a:p>
            <a:r>
              <a:rPr lang="en-US" sz="1600" dirty="0"/>
              <a:t>    STEP 4: Compute Edie variables per </a:t>
            </a:r>
            <a:r>
              <a:rPr lang="en-US" sz="1600" dirty="0" err="1"/>
              <a:t>time_bin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        flow (q):</a:t>
            </a:r>
          </a:p>
          <a:p>
            <a:r>
              <a:rPr lang="en-US" sz="1600" dirty="0"/>
              <a:t>            q = </a:t>
            </a:r>
            <a:r>
              <a:rPr lang="en-US" sz="1600" dirty="0" err="1"/>
              <a:t>total_distance</a:t>
            </a:r>
            <a:r>
              <a:rPr lang="en-US" sz="1600" dirty="0"/>
              <a:t> / (</a:t>
            </a:r>
            <a:r>
              <a:rPr lang="en-US" sz="1600" dirty="0" err="1"/>
              <a:t>road_length</a:t>
            </a:r>
            <a:r>
              <a:rPr lang="en-US" sz="1600" dirty="0"/>
              <a:t> * T)</a:t>
            </a:r>
          </a:p>
          <a:p>
            <a:endParaRPr lang="en-US" sz="1600" dirty="0"/>
          </a:p>
          <a:p>
            <a:r>
              <a:rPr lang="en-US" sz="1600" dirty="0"/>
              <a:t>        density (k):</a:t>
            </a:r>
          </a:p>
          <a:p>
            <a:r>
              <a:rPr lang="en-US" sz="1600" dirty="0"/>
              <a:t>            k = </a:t>
            </a:r>
            <a:r>
              <a:rPr lang="en-US" sz="1600" dirty="0" err="1"/>
              <a:t>total_time</a:t>
            </a:r>
            <a:r>
              <a:rPr lang="en-US" sz="1600" dirty="0"/>
              <a:t> / (</a:t>
            </a:r>
            <a:r>
              <a:rPr lang="en-US" sz="1600" dirty="0" err="1"/>
              <a:t>road_length</a:t>
            </a:r>
            <a:r>
              <a:rPr lang="en-US" sz="1600" dirty="0"/>
              <a:t> * T)</a:t>
            </a:r>
          </a:p>
          <a:p>
            <a:endParaRPr lang="en-US" sz="1600" dirty="0"/>
          </a:p>
          <a:p>
            <a:r>
              <a:rPr lang="en-US" sz="1600" dirty="0"/>
              <a:t>        </a:t>
            </a:r>
            <a:r>
              <a:rPr lang="en-US" sz="1600" dirty="0" err="1"/>
              <a:t>space_mean_speed</a:t>
            </a:r>
            <a:r>
              <a:rPr lang="en-US" sz="1600" dirty="0"/>
              <a:t> (v):</a:t>
            </a:r>
          </a:p>
          <a:p>
            <a:r>
              <a:rPr lang="en-US" sz="1600" dirty="0"/>
              <a:t>            v = </a:t>
            </a:r>
            <a:r>
              <a:rPr lang="en-US" sz="1600" dirty="0" err="1"/>
              <a:t>total_distance</a:t>
            </a:r>
            <a:r>
              <a:rPr lang="en-US" sz="1600" dirty="0"/>
              <a:t> / </a:t>
            </a:r>
            <a:r>
              <a:rPr lang="en-US" sz="1600" dirty="0" err="1"/>
              <a:t>total_time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    STEP 5: Unit conversion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v_kmh</a:t>
            </a:r>
            <a:r>
              <a:rPr lang="en-US" sz="1600" dirty="0"/>
              <a:t> = v * 3.6</a:t>
            </a:r>
          </a:p>
          <a:p>
            <a:endParaRPr lang="en-US" sz="1600" dirty="0"/>
          </a:p>
          <a:p>
            <a:r>
              <a:rPr lang="en-US" sz="1600" dirty="0"/>
              <a:t>    STEP 6: Store results per </a:t>
            </a:r>
            <a:r>
              <a:rPr lang="en-US" sz="1600" dirty="0" err="1"/>
              <a:t>time_bin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END FOR</a:t>
            </a:r>
          </a:p>
          <a:p>
            <a:endParaRPr lang="en-US" sz="1600" dirty="0"/>
          </a:p>
          <a:p>
            <a:r>
              <a:rPr lang="en-US" sz="1600" dirty="0"/>
              <a:t>STEP 7: Compute summary over all time bins</a:t>
            </a:r>
          </a:p>
          <a:p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 err="1"/>
              <a:t>avg_flow</a:t>
            </a:r>
            <a:r>
              <a:rPr lang="en-US" sz="1600" dirty="0"/>
              <a:t> = mean(q)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avg_density</a:t>
            </a:r>
            <a:r>
              <a:rPr lang="en-US" sz="1600" dirty="0"/>
              <a:t> = mean(k)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avg_speed</a:t>
            </a:r>
            <a:r>
              <a:rPr lang="en-US" sz="1600" dirty="0"/>
              <a:t> = mean(</a:t>
            </a:r>
            <a:r>
              <a:rPr lang="en-US" sz="1600" dirty="0" err="1"/>
              <a:t>v_kmh</a:t>
            </a:r>
            <a:r>
              <a:rPr lang="en-US" sz="1600" dirty="0"/>
              <a:t>)</a:t>
            </a:r>
          </a:p>
          <a:p>
            <a:endParaRPr lang="en-US" sz="1600" dirty="0"/>
          </a:p>
          <a:p>
            <a:r>
              <a:rPr lang="en-US" sz="1600" dirty="0"/>
              <a:t>OUTPUT:</a:t>
            </a:r>
          </a:p>
          <a:p>
            <a:r>
              <a:rPr lang="en-US" sz="1600" dirty="0"/>
              <a:t>    - Time-bin level results</a:t>
            </a:r>
          </a:p>
          <a:p>
            <a:r>
              <a:rPr lang="en-US" sz="1600" dirty="0"/>
              <a:t>    - Interval summary results</a:t>
            </a:r>
          </a:p>
        </p:txBody>
      </p:sp>
    </p:spTree>
    <p:extLst>
      <p:ext uri="{BB962C8B-B14F-4D97-AF65-F5344CB8AC3E}">
        <p14:creationId xmlns:p14="http://schemas.microsoft.com/office/powerpoint/2010/main" val="34858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07DA5-F531-1CA3-B927-12F84C505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17F7F-9F5B-0D2E-E450-A0A5D91AA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219" y="117987"/>
            <a:ext cx="7059561" cy="1006475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Trajectory plots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A9D840-4EEF-B689-778F-7D4BE73BCF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551" y="1422503"/>
            <a:ext cx="725222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66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2BFA5-1E58-07C4-B661-CA36BAC1F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D5A64-8DA1-75E2-3731-8BB4D216A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219" y="117987"/>
            <a:ext cx="7059561" cy="1006475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Comparison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9F545C1-63D2-FF7C-03D5-F2C67A5F26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273" y="1253331"/>
            <a:ext cx="79774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17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816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Comparative Evaluation of Space Mean Speed Estimation Methods Using Trajectory Data and Edie’s Definition</vt:lpstr>
      <vt:lpstr>Work Plan</vt:lpstr>
      <vt:lpstr>Screen shot from video showing entry and exit gate</vt:lpstr>
      <vt:lpstr>Method 1: Entry-Exit travel time-based Space Mean Speed</vt:lpstr>
      <vt:lpstr>Method 2: Instantaneous speed-based Space Mean Speed</vt:lpstr>
      <vt:lpstr>Method 3: Trajectory based aggregation of Edie's Space Mean Speed</vt:lpstr>
      <vt:lpstr>Method 3: Trajectory based aggregation of Edie's Space Mean Speed</vt:lpstr>
      <vt:lpstr>Trajectory plots</vt:lpstr>
      <vt:lpstr>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Saurav Barua</dc:creator>
  <cp:lastModifiedBy>Saurav Barua</cp:lastModifiedBy>
  <cp:revision>8</cp:revision>
  <dcterms:created xsi:type="dcterms:W3CDTF">2026-03-25T04:02:12Z</dcterms:created>
  <dcterms:modified xsi:type="dcterms:W3CDTF">2026-03-25T04:45:49Z</dcterms:modified>
</cp:coreProperties>
</file>